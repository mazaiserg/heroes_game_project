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2" r:id="rId5"/>
    <p:sldId id="259" r:id="rId6"/>
    <p:sldId id="261" r:id="rId7"/>
    <p:sldId id="260" r:id="rId8"/>
    <p:sldId id="263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34587" autoAdjust="0"/>
    <p:restoredTop sz="94713" autoAdjust="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C9ECCEF-F28C-460C-8437-FAB239B7527F}" type="datetimeFigureOut">
              <a:rPr lang="ru-RU" smtClean="0"/>
              <a:t>27.08.2020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53C022AB-DDAA-4E63-8C47-D4138E45FF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Бот для «Героев»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 smtClean="0"/>
              <a:t>Мазаев</a:t>
            </a:r>
            <a:r>
              <a:rPr lang="ru-RU" dirty="0" smtClean="0"/>
              <a:t> Сергей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Основной выбор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Мин-Макс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ru-RU" dirty="0" smtClean="0"/>
              <a:t>Монте-Карло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16063"/>
            <a:ext cx="4040188" cy="3941763"/>
          </a:xfrm>
        </p:spPr>
        <p:txBody>
          <a:bodyPr/>
          <a:lstStyle/>
          <a:p>
            <a:pPr fontAlgn="base"/>
            <a:r>
              <a:rPr lang="ru-RU" dirty="0" smtClean="0"/>
              <a:t>Сложно учесть средний эффект множества исходов</a:t>
            </a:r>
          </a:p>
          <a:p>
            <a:pPr fontAlgn="base"/>
            <a:r>
              <a:rPr lang="ru-RU" dirty="0" smtClean="0"/>
              <a:t>Дает всегда одинаковый результат</a:t>
            </a:r>
          </a:p>
          <a:p>
            <a:pPr fontAlgn="base"/>
            <a:r>
              <a:rPr lang="ru-RU" dirty="0" smtClean="0"/>
              <a:t>Сложно </a:t>
            </a:r>
            <a:r>
              <a:rPr lang="ru-RU" dirty="0" smtClean="0"/>
              <a:t>контролировать время </a:t>
            </a:r>
            <a:r>
              <a:rPr lang="ru-RU" dirty="0" smtClean="0"/>
              <a:t>выполнения</a:t>
            </a:r>
          </a:p>
          <a:p>
            <a:pPr fontAlgn="base"/>
            <a:r>
              <a:rPr lang="ru-RU" dirty="0" smtClean="0"/>
              <a:t>Дает оптимальное </a:t>
            </a:r>
            <a:r>
              <a:rPr lang="ru-RU" dirty="0" smtClean="0"/>
              <a:t>решение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dirty="0" smtClean="0"/>
              <a:t>Легко учесть средний эффект множества исходов</a:t>
            </a:r>
          </a:p>
          <a:p>
            <a:pPr fontAlgn="base"/>
            <a:r>
              <a:rPr lang="ru-RU" dirty="0" smtClean="0"/>
              <a:t>Результат может </a:t>
            </a:r>
            <a:r>
              <a:rPr lang="ru-RU" dirty="0" smtClean="0"/>
              <a:t>меняться</a:t>
            </a:r>
            <a:r>
              <a:rPr lang="ru-RU" dirty="0" smtClean="0"/>
              <a:t> </a:t>
            </a:r>
          </a:p>
          <a:p>
            <a:pPr fontAlgn="base"/>
            <a:r>
              <a:rPr lang="ru-RU" dirty="0" smtClean="0"/>
              <a:t>Легко контролировать время </a:t>
            </a:r>
            <a:r>
              <a:rPr lang="ru-RU" dirty="0" smtClean="0"/>
              <a:t>выполнения</a:t>
            </a:r>
          </a:p>
          <a:p>
            <a:pPr fontAlgn="base">
              <a:buNone/>
            </a:pPr>
            <a:endParaRPr lang="ru-RU" dirty="0" smtClean="0"/>
          </a:p>
          <a:p>
            <a:pPr fontAlgn="base"/>
            <a:r>
              <a:rPr lang="ru-RU" dirty="0" smtClean="0"/>
              <a:t>Очень простая реализация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</a:t>
            </a:r>
            <a:r>
              <a:rPr lang="ru-RU" b="1" u="sng" dirty="0" smtClean="0"/>
              <a:t>Проблема 1</a:t>
            </a:r>
            <a:r>
              <a:rPr lang="ru-RU" dirty="0" smtClean="0"/>
              <a:t>: </a:t>
            </a:r>
            <a:r>
              <a:rPr lang="ru-RU" dirty="0" smtClean="0"/>
              <a:t>случайный </a:t>
            </a:r>
            <a:r>
              <a:rPr lang="ru-RU" dirty="0" smtClean="0"/>
              <a:t>результат действий.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ru-RU" b="1" u="sng" dirty="0" smtClean="0"/>
              <a:t>Проблема 2</a:t>
            </a:r>
            <a:r>
              <a:rPr lang="ru-RU" dirty="0" smtClean="0"/>
              <a:t>: много исходов (до 4000)</a:t>
            </a:r>
          </a:p>
          <a:p>
            <a:pPr>
              <a:buNone/>
            </a:pPr>
            <a:r>
              <a:rPr lang="ru-RU" dirty="0" smtClean="0"/>
              <a:t>	</a:t>
            </a: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b="1" u="sng" dirty="0" smtClean="0"/>
              <a:t>Решение:</a:t>
            </a:r>
            <a:r>
              <a:rPr lang="ru-RU" dirty="0" smtClean="0"/>
              <a:t> переписать базовые классы для того, чтобы убрать из них случайный эффект:</a:t>
            </a:r>
          </a:p>
          <a:p>
            <a:pPr lvl="1"/>
            <a:r>
              <a:rPr lang="ru-RU" dirty="0" smtClean="0"/>
              <a:t> </a:t>
            </a:r>
            <a:r>
              <a:rPr lang="ru-RU" dirty="0" err="1" smtClean="0"/>
              <a:t>Юниты</a:t>
            </a:r>
            <a:r>
              <a:rPr lang="ru-RU" dirty="0" smtClean="0"/>
              <a:t> всегда попадают </a:t>
            </a:r>
          </a:p>
          <a:p>
            <a:pPr lvl="1"/>
            <a:r>
              <a:rPr lang="ru-RU" dirty="0" smtClean="0"/>
              <a:t> </a:t>
            </a:r>
            <a:r>
              <a:rPr lang="ru-RU" dirty="0" err="1" smtClean="0"/>
              <a:t>Юниты</a:t>
            </a:r>
            <a:r>
              <a:rPr lang="ru-RU" dirty="0" smtClean="0"/>
              <a:t> всегда наносят средний урон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Бот на </a:t>
            </a:r>
            <a:r>
              <a:rPr lang="ru-RU" dirty="0" err="1" smtClean="0"/>
              <a:t>МинМаксе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Боты на Монте-Карло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Учитывать рандом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r>
              <a:rPr lang="ru-RU" dirty="0" smtClean="0"/>
              <a:t>Не учитывать рандом</a:t>
            </a:r>
            <a:endParaRPr lang="ru-RU" dirty="0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16063"/>
            <a:ext cx="4040188" cy="3941763"/>
          </a:xfrm>
        </p:spPr>
        <p:txBody>
          <a:bodyPr/>
          <a:lstStyle/>
          <a:p>
            <a:r>
              <a:rPr lang="ru-RU" dirty="0" smtClean="0"/>
              <a:t>Более высокая точность оценки результатов</a:t>
            </a:r>
          </a:p>
          <a:p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dirty="0" smtClean="0"/>
              <a:t>Уже переписанные базовые классы, чтобы не учитывать рандом</a:t>
            </a:r>
          </a:p>
          <a:p>
            <a:pPr fontAlgn="base"/>
            <a:r>
              <a:rPr lang="ru-RU" dirty="0" smtClean="0"/>
              <a:t>Большее количество симуляций</a:t>
            </a:r>
          </a:p>
          <a:p>
            <a:pPr fontAlgn="base"/>
            <a:r>
              <a:rPr lang="ru-RU" dirty="0" smtClean="0"/>
              <a:t>Возможность хранить хэш-таблицы с оценкой для различных армий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</a:t>
            </a:r>
            <a:r>
              <a:rPr lang="ru-RU" b="1" u="sng" dirty="0" smtClean="0"/>
              <a:t>Проблема </a:t>
            </a:r>
            <a:r>
              <a:rPr lang="ru-RU" b="1" u="sng" dirty="0" smtClean="0"/>
              <a:t>1</a:t>
            </a:r>
            <a:r>
              <a:rPr lang="ru-RU" dirty="0" smtClean="0"/>
              <a:t>: </a:t>
            </a:r>
            <a:r>
              <a:rPr lang="ru-RU" dirty="0" smtClean="0"/>
              <a:t>эффективность зависит от количества симуляций</a:t>
            </a:r>
          </a:p>
          <a:p>
            <a:pPr>
              <a:buNone/>
            </a:pPr>
            <a:r>
              <a:rPr lang="ru-RU" dirty="0" smtClean="0"/>
              <a:t>	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ru-RU" b="1" u="sng" dirty="0" smtClean="0"/>
              <a:t>Решение:</a:t>
            </a:r>
            <a:r>
              <a:rPr lang="ru-RU" dirty="0" smtClean="0"/>
              <a:t> </a:t>
            </a:r>
            <a:r>
              <a:rPr lang="ru-RU" dirty="0" smtClean="0"/>
              <a:t>профилирование кода:</a:t>
            </a:r>
            <a:endParaRPr lang="ru-RU" dirty="0" smtClean="0"/>
          </a:p>
          <a:p>
            <a:pPr lvl="1"/>
            <a:r>
              <a:rPr lang="ru-RU" dirty="0" smtClean="0"/>
              <a:t> </a:t>
            </a:r>
            <a:r>
              <a:rPr lang="ru-RU" dirty="0" smtClean="0"/>
              <a:t>Изменение базовых классов на более простых типах данных</a:t>
            </a:r>
            <a:endParaRPr lang="ru-RU" dirty="0" smtClean="0"/>
          </a:p>
          <a:p>
            <a:pPr lvl="1"/>
            <a:r>
              <a:rPr lang="ru-RU" dirty="0" smtClean="0"/>
              <a:t> </a:t>
            </a:r>
            <a:r>
              <a:rPr lang="ru-RU" dirty="0" smtClean="0"/>
              <a:t>Создание хэш-таблиц</a:t>
            </a:r>
          </a:p>
          <a:p>
            <a:pPr lvl="1"/>
            <a:endParaRPr lang="ru-RU" dirty="0" smtClean="0"/>
          </a:p>
          <a:p>
            <a:pPr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Боты на Монте-Карло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</a:t>
            </a:r>
            <a:r>
              <a:rPr lang="ru-RU" b="1" u="sng" dirty="0" smtClean="0"/>
              <a:t>Проблема 2</a:t>
            </a:r>
            <a:r>
              <a:rPr lang="ru-RU" dirty="0" smtClean="0"/>
              <a:t>: эффективность зависит от выбора:</a:t>
            </a:r>
          </a:p>
          <a:p>
            <a:pPr lvl="1"/>
            <a:r>
              <a:rPr lang="ru-RU" dirty="0" smtClean="0"/>
              <a:t>Способа определить какое действие просчитывать</a:t>
            </a:r>
          </a:p>
          <a:p>
            <a:pPr lvl="1"/>
            <a:r>
              <a:rPr lang="ru-RU" dirty="0" smtClean="0"/>
              <a:t>Способа задания базовых приоритетов действий</a:t>
            </a:r>
          </a:p>
          <a:p>
            <a:pPr>
              <a:buNone/>
            </a:pPr>
            <a:r>
              <a:rPr lang="ru-RU" dirty="0" smtClean="0"/>
              <a:t>	</a:t>
            </a:r>
          </a:p>
          <a:p>
            <a:pPr>
              <a:buNone/>
            </a:pPr>
            <a:r>
              <a:rPr lang="ru-RU" dirty="0" smtClean="0"/>
              <a:t>	</a:t>
            </a:r>
            <a:r>
              <a:rPr lang="ru-RU" b="1" u="sng" dirty="0" smtClean="0"/>
              <a:t>Решение:</a:t>
            </a:r>
            <a:r>
              <a:rPr lang="ru-RU" dirty="0" smtClean="0"/>
              <a:t> </a:t>
            </a:r>
            <a:r>
              <a:rPr lang="ru-RU" dirty="0" smtClean="0"/>
              <a:t>тестирование:</a:t>
            </a:r>
            <a:endParaRPr lang="ru-RU" dirty="0" smtClean="0"/>
          </a:p>
          <a:p>
            <a:pPr lvl="1"/>
            <a:r>
              <a:rPr lang="ru-RU" dirty="0" smtClean="0"/>
              <a:t> </a:t>
            </a:r>
            <a:r>
              <a:rPr lang="ru-RU" dirty="0" smtClean="0"/>
              <a:t>для определения способа выбора действия – А/В тестирование</a:t>
            </a:r>
            <a:endParaRPr lang="ru-RU" dirty="0" smtClean="0"/>
          </a:p>
          <a:p>
            <a:pPr lvl="1"/>
            <a:r>
              <a:rPr lang="ru-RU" dirty="0" smtClean="0"/>
              <a:t> </a:t>
            </a:r>
            <a:r>
              <a:rPr lang="ru-RU" dirty="0" smtClean="0"/>
              <a:t>Использование генетических алгоритмов</a:t>
            </a:r>
          </a:p>
          <a:p>
            <a:pPr lvl="1"/>
            <a:endParaRPr lang="ru-RU" dirty="0" smtClean="0"/>
          </a:p>
          <a:p>
            <a:pPr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Боты на Монте-Карло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</a:t>
            </a:r>
            <a:r>
              <a:rPr lang="ru-RU" b="1" u="sng" dirty="0" smtClean="0"/>
              <a:t>Задача:</a:t>
            </a:r>
            <a:r>
              <a:rPr lang="ru-RU" dirty="0" smtClean="0"/>
              <a:t> необходимо, чтобы бот выбирал корректную армию как не зная о армии противника, так и имея о ней информацию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b="1" u="sng" dirty="0" smtClean="0"/>
              <a:t>Решение:</a:t>
            </a:r>
            <a:r>
              <a:rPr lang="ru-RU" dirty="0" smtClean="0"/>
              <a:t> использовать заранее собранную статистику.</a:t>
            </a:r>
          </a:p>
          <a:p>
            <a:pPr>
              <a:buNone/>
            </a:pPr>
            <a:endParaRPr lang="ru-RU" dirty="0" smtClean="0"/>
          </a:p>
          <a:p>
            <a:pPr>
              <a:buNone/>
            </a:pPr>
            <a:r>
              <a:rPr lang="ru-RU" dirty="0" smtClean="0"/>
              <a:t>	</a:t>
            </a:r>
            <a:r>
              <a:rPr lang="ru-RU" b="1" u="sng" dirty="0" smtClean="0"/>
              <a:t>Проблема</a:t>
            </a:r>
            <a:r>
              <a:rPr lang="ru-RU" dirty="0" smtClean="0"/>
              <a:t>: количество возможных расстановок для армии размером 4 – более 500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Выбор армии ботом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Итоги сбора статистики</a:t>
            </a:r>
            <a:endParaRPr lang="ru-RU" dirty="0"/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</p:nvPr>
        </p:nvGraphicFramePr>
        <p:xfrm>
          <a:off x="142883" y="1428735"/>
          <a:ext cx="8929711" cy="4429157"/>
        </p:xfrm>
        <a:graphic>
          <a:graphicData uri="http://schemas.openxmlformats.org/drawingml/2006/table">
            <a:tbl>
              <a:tblPr/>
              <a:tblGrid>
                <a:gridCol w="465187"/>
                <a:gridCol w="44485"/>
                <a:gridCol w="405981"/>
                <a:gridCol w="405981"/>
                <a:gridCol w="405981"/>
                <a:gridCol w="405981"/>
                <a:gridCol w="405981"/>
                <a:gridCol w="405981"/>
                <a:gridCol w="405981"/>
                <a:gridCol w="405981"/>
                <a:gridCol w="405981"/>
                <a:gridCol w="431355"/>
                <a:gridCol w="160701"/>
                <a:gridCol w="405981"/>
                <a:gridCol w="44485"/>
                <a:gridCol w="405981"/>
                <a:gridCol w="405981"/>
                <a:gridCol w="405981"/>
                <a:gridCol w="44485"/>
                <a:gridCol w="405981"/>
                <a:gridCol w="405981"/>
                <a:gridCol w="405981"/>
                <a:gridCol w="405981"/>
                <a:gridCol w="405981"/>
                <a:gridCol w="431355"/>
              </a:tblGrid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aaa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aah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aam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ahh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ahm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amm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hhh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hhm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hmm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mmm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M fff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Ma ff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Mh ff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Mm ff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Maa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Mah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Mhh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Mhm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Mmm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65960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aaa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5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0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3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1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0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D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075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aah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1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E6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E8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1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0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3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E72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aam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8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4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E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0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47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4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87A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ahh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F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0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F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3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2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A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C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F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ahm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8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8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A7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D6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D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75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amm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5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981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hhh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E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7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C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E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5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0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hhm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7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5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B6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7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470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hmm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5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</a:tr>
              <a:tr h="1873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mmm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5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C6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C81"/>
                    </a:solidFill>
                  </a:tcPr>
                </a:tc>
              </a:tr>
              <a:tr h="165960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M fff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5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3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C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5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86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F6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B8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2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F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7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0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D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C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7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3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673"/>
                    </a:solidFill>
                  </a:tcPr>
                </a:tc>
              </a:tr>
              <a:tr h="165960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Ma ff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8E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87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C6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A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Mh ff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5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4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C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8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D7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6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C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5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A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75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 Mm ff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E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4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3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F7B"/>
                    </a:solidFill>
                  </a:tcPr>
                </a:tc>
              </a:tr>
              <a:tr h="165960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Maa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C5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16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86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98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D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379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Mah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B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E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C4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17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C2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47C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Mam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C7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2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F7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C7E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Mhh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E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2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9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07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7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38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C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7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5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479"/>
                    </a:solidFill>
                  </a:tcPr>
                </a:tc>
              </a:tr>
              <a:tr h="17845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Mhm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F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6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4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980"/>
                    </a:solidFill>
                  </a:tcPr>
                </a:tc>
              </a:tr>
              <a:tr h="187374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Mmm f 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B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5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832" marR="7832" marT="783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C0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C37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87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B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F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7832" marR="7832" marT="783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D8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Итоги тестирования ботов при сражении одинаковыми армиями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89</TotalTime>
  <Words>580</Words>
  <Application>Microsoft Office PowerPoint</Application>
  <PresentationFormat>Экран (4:3)</PresentationFormat>
  <Paragraphs>675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Открытая</vt:lpstr>
      <vt:lpstr>Бот для «Героев»</vt:lpstr>
      <vt:lpstr>Основной выбор</vt:lpstr>
      <vt:lpstr>Бот на МинМаксе</vt:lpstr>
      <vt:lpstr>Боты на Монте-Карло</vt:lpstr>
      <vt:lpstr>Боты на Монте-Карло</vt:lpstr>
      <vt:lpstr>Боты на Монте-Карло</vt:lpstr>
      <vt:lpstr>Выбор армии ботом</vt:lpstr>
      <vt:lpstr>Итоги сбора статистики</vt:lpstr>
      <vt:lpstr>Итоги тестирования ботов при сражении одинаковыми армиями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Бот для «Героев»</dc:title>
  <dc:creator>Сергей</dc:creator>
  <cp:lastModifiedBy>Сергей</cp:lastModifiedBy>
  <cp:revision>9</cp:revision>
  <dcterms:created xsi:type="dcterms:W3CDTF">2020-08-27T08:06:05Z</dcterms:created>
  <dcterms:modified xsi:type="dcterms:W3CDTF">2020-08-27T09:35:57Z</dcterms:modified>
</cp:coreProperties>
</file>